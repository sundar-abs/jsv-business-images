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Calibri (MS) Bold" charset="0"/>
      <p:regular r:id="rId8"/>
    </p:embeddedFont>
    <p:embeddedFont>
      <p:font typeface="Calibri (MS)" charset="0"/>
      <p:regular r:id="rId9"/>
    </p:embeddedFont>
    <p:embeddedFont>
      <p:font typeface="Helvetica Bold" charset="0"/>
      <p:regular r:id="rId10"/>
    </p:embeddedFont>
    <p:embeddedFont>
      <p:font typeface="Helvetica" pitchFamily="34" charset="0"/>
      <p:regular r:id="rId11"/>
      <p:bold r:id="rId12"/>
      <p:italic r:id="rId13"/>
      <p:boldItalic r:id="rId14"/>
    </p:embeddedFont>
    <p:embeddedFont>
      <p:font typeface="Canva Sans Bold" charset="0"/>
      <p:regular r:id="rId15"/>
    </p:embeddedFont>
    <p:embeddedFont>
      <p:font typeface="Canva Sans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54" d="100"/>
          <a:sy n="154" d="100"/>
        </p:scale>
        <p:origin x="-1332" y="10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uan@cloudbox.com.p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03957" y="756000"/>
            <a:ext cx="3952086" cy="1564017"/>
          </a:xfrm>
          <a:custGeom>
            <a:avLst/>
            <a:gdLst/>
            <a:ahLst/>
            <a:cxnLst/>
            <a:rect l="l" t="t" r="r" b="b"/>
            <a:pathLst>
              <a:path w="3952086" h="1564017">
                <a:moveTo>
                  <a:pt x="0" y="0"/>
                </a:moveTo>
                <a:lnTo>
                  <a:pt x="3952086" y="0"/>
                </a:lnTo>
                <a:lnTo>
                  <a:pt x="3952086" y="1564017"/>
                </a:lnTo>
                <a:lnTo>
                  <a:pt x="0" y="156401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56000" y="5106627"/>
          <a:ext cx="6048000" cy="2343644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</a:tblGrid>
              <a:tr h="2343644">
                <a:tc>
                  <a:txBody>
                    <a:bodyPr/>
                    <a:lstStyle/>
                    <a:p>
                      <a:pPr algn="ctr">
                        <a:lnSpc>
                          <a:spcPts val="1312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2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56000" y="8022864"/>
          <a:ext cx="6048000" cy="315262"/>
        </p:xfrm>
        <a:graphic>
          <a:graphicData uri="http://schemas.openxmlformats.org/drawingml/2006/table">
            <a:tbl>
              <a:tblPr/>
              <a:tblGrid>
                <a:gridCol w="6048000"/>
              </a:tblGrid>
              <a:tr h="315262">
                <a:tc>
                  <a:txBody>
                    <a:bodyPr/>
                    <a:lstStyle/>
                    <a:p>
                      <a:pPr algn="ctr">
                        <a:lnSpc>
                          <a:spcPts val="2152"/>
                        </a:lnSpc>
                        <a:defRPr/>
                      </a:pPr>
                      <a:r>
                        <a:rPr lang="en-US" sz="1537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PRICE QUOTE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ABA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772529" y="2636895"/>
            <a:ext cx="601494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SERVICE WORK ORDER FOR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669" y="5153278"/>
            <a:ext cx="2274746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Attn: Juan Rojas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669" y="5556478"/>
            <a:ext cx="2274746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Cloudbox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5669" y="5863711"/>
            <a:ext cx="2274746" cy="149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Av. Victor Andres Belaunde 147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Lima, Peru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51 1 7075790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juan@cloudbox.com.pe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52483" y="5153278"/>
            <a:ext cx="2739477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Submitted by: James Brown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52483" y="5556478"/>
            <a:ext cx="2739477" cy="31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Nightingale Business Solution.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52483" y="5863711"/>
            <a:ext cx="2739477" cy="1204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1521 Concord Pike, #301, Wilmington, DE 19803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302-272-9710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jamesb@nightingaledata.com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0250" y="9690100"/>
            <a:ext cx="6014942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PLEASE EMAIL THE APPROVED COPY TO JAMESB@NIGHTINGALEDATA.COM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73372" y="756000"/>
            <a:ext cx="2213256" cy="875884"/>
          </a:xfrm>
          <a:custGeom>
            <a:avLst/>
            <a:gdLst/>
            <a:ahLst/>
            <a:cxnLst/>
            <a:rect l="l" t="t" r="r" b="b"/>
            <a:pathLst>
              <a:path w="2213256" h="875884">
                <a:moveTo>
                  <a:pt x="0" y="0"/>
                </a:moveTo>
                <a:lnTo>
                  <a:pt x="2213256" y="0"/>
                </a:lnTo>
                <a:lnTo>
                  <a:pt x="2213256" y="875884"/>
                </a:lnTo>
                <a:lnTo>
                  <a:pt x="0" y="87588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56000" y="1784284"/>
          <a:ext cx="6048000" cy="1349067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</a:tblGrid>
              <a:tr h="270431"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Date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17-09-2020</a:t>
                      </a:r>
                      <a:endParaRPr lang="en-US" sz="110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31"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WO </a:t>
                      </a:r>
                      <a:r>
                        <a:rPr lang="en-US" sz="11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Reference No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NBS_09_085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31"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Client </a:t>
                      </a:r>
                      <a:r>
                        <a:rPr lang="en-US" sz="11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Contact Name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Juan Rojas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431"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Client </a:t>
                      </a:r>
                      <a:r>
                        <a:rPr lang="en-US" sz="11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Email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US" sz="11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  <a:hlinkClick r:id="rId3"/>
                        </a:rPr>
                        <a:t>juan@cloudbox.com.pe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343"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Client </a:t>
                      </a:r>
                      <a:r>
                        <a:rPr lang="en-US" sz="11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Phone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92"/>
                        </a:lnSpc>
                        <a:defRPr/>
                      </a:pPr>
                      <a:r>
                        <a:rPr lang="en-US" sz="1137" dirty="0" smtClean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51 </a:t>
                      </a:r>
                      <a:r>
                        <a:rPr lang="en-US" sz="11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1 7075790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56000" y="3355592"/>
          <a:ext cx="6048000" cy="247650"/>
        </p:xfrm>
        <a:graphic>
          <a:graphicData uri="http://schemas.openxmlformats.org/drawingml/2006/table">
            <a:tbl>
              <a:tblPr/>
              <a:tblGrid>
                <a:gridCol w="6048000"/>
              </a:tblGrid>
              <a:tr h="203708"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r>
                        <a:rPr lang="en-US" sz="1037" b="1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MARKETING SOLUTION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AB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56000" y="3622292"/>
          <a:ext cx="6048000" cy="1334011"/>
        </p:xfrm>
        <a:graphic>
          <a:graphicData uri="http://schemas.openxmlformats.org/drawingml/2006/table">
            <a:tbl>
              <a:tblPr/>
              <a:tblGrid>
                <a:gridCol w="4563500"/>
                <a:gridCol w="1484500"/>
              </a:tblGrid>
              <a:tr h="1004951"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List</a:t>
                      </a: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:</a:t>
                      </a:r>
                      <a:endParaRPr lang="en-US" sz="1100" dirty="0"/>
                    </a:p>
                    <a:p>
                      <a:pPr algn="l">
                        <a:lnSpc>
                          <a:spcPts val="1452"/>
                        </a:lnSpc>
                      </a:pPr>
                      <a:r>
                        <a:rPr lang="en-US" sz="10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Technology </a:t>
                      </a: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Users:</a:t>
                      </a:r>
                      <a:r>
                        <a:rPr lang="en-US" sz="10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Aruba Users</a:t>
                      </a:r>
                    </a:p>
                    <a:p>
                      <a:pPr algn="l">
                        <a:lnSpc>
                          <a:spcPts val="1452"/>
                        </a:lnSpc>
                      </a:pPr>
                      <a:r>
                        <a:rPr lang="en-US" sz="10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Location</a:t>
                      </a: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: </a:t>
                      </a:r>
                      <a:r>
                        <a:rPr lang="en-US" sz="10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Peru and Columbia</a:t>
                      </a:r>
                    </a:p>
                    <a:p>
                      <a:pPr algn="l">
                        <a:lnSpc>
                          <a:spcPts val="1452"/>
                        </a:lnSpc>
                      </a:pPr>
                      <a:r>
                        <a:rPr lang="en-US" sz="10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Title</a:t>
                      </a: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:</a:t>
                      </a:r>
                      <a:r>
                        <a:rPr lang="en-US" sz="10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Decision Makers</a:t>
                      </a:r>
                    </a:p>
                    <a:p>
                      <a:pPr algn="l">
                        <a:lnSpc>
                          <a:spcPts val="1452"/>
                        </a:lnSpc>
                      </a:pPr>
                      <a:r>
                        <a:rPr lang="en-US" sz="10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No</a:t>
                      </a: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. of contacts:</a:t>
                      </a:r>
                      <a:r>
                        <a:rPr lang="en-US" sz="10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876 Contacts</a:t>
                      </a:r>
                    </a:p>
                  </a:txBody>
                  <a:tcPr marL="28575" marR="28575" marT="28575" marB="285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2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060"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 smtClean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 COST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r>
                        <a:rPr lang="en-US" sz="1037" b="1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$480.00 USD</a:t>
                      </a:r>
                      <a:endParaRPr lang="en-US" sz="1100"/>
                    </a:p>
                  </a:txBody>
                  <a:tcPr marL="28575" marR="28575" marT="28575" marB="285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56000" y="7821258"/>
          <a:ext cx="6070250" cy="400526"/>
        </p:xfrm>
        <a:graphic>
          <a:graphicData uri="http://schemas.openxmlformats.org/drawingml/2006/table">
            <a:tbl>
              <a:tblPr/>
              <a:tblGrid>
                <a:gridCol w="3024000"/>
                <a:gridCol w="3046250"/>
              </a:tblGrid>
              <a:tr h="400526"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AUTHORIZATION BY Nightingale Business Solution</a:t>
                      </a:r>
                      <a:endParaRPr lang="en-US" sz="11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2"/>
                        </a:lnSpc>
                        <a:defRPr/>
                      </a:pPr>
                      <a:r>
                        <a:rPr lang="en-US" sz="9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AUTHORIZATION BY </a:t>
                      </a:r>
                      <a:r>
                        <a:rPr lang="en-US" sz="937" b="1" dirty="0" err="1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Cloudbox</a:t>
                      </a:r>
                      <a:endParaRPr lang="en-US" sz="11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56000" y="8230833"/>
          <a:ext cx="6070250" cy="1616155"/>
        </p:xfrm>
        <a:graphic>
          <a:graphicData uri="http://schemas.openxmlformats.org/drawingml/2006/table">
            <a:tbl>
              <a:tblPr/>
              <a:tblGrid>
                <a:gridCol w="812450"/>
                <a:gridCol w="2209800"/>
                <a:gridCol w="838200"/>
                <a:gridCol w="2209800"/>
              </a:tblGrid>
              <a:tr h="308436"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Print Name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r>
                        <a:rPr lang="en-US" sz="1037" b="1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James Brown</a:t>
                      </a:r>
                      <a:endParaRPr lang="en-US" sz="110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12"/>
                        </a:lnSpc>
                        <a:defRPr/>
                      </a:pPr>
                      <a:r>
                        <a:rPr lang="en-US" sz="9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Print Name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2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436"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Title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r>
                        <a:rPr lang="en-US" sz="10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Head of Sales </a:t>
                      </a:r>
                      <a:r>
                        <a:rPr lang="en-US" sz="1037" dirty="0" smtClean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</a:t>
                      </a:r>
                      <a:r>
                        <a:rPr lang="en-US" sz="1037" dirty="0" err="1" smtClean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USA|Global</a:t>
                      </a:r>
                      <a:r>
                        <a:rPr lang="en-US" sz="1037" dirty="0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)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Title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436"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Date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r>
                        <a:rPr lang="en-US" sz="1037">
                          <a:solidFill>
                            <a:srgbClr val="000000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17-09-2020</a:t>
                      </a:r>
                      <a:endParaRPr lang="en-US" sz="110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Date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0847"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Signature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52"/>
                        </a:lnSpc>
                        <a:defRPr/>
                      </a:pPr>
                      <a:r>
                        <a:rPr lang="en-US" sz="1037" b="1" dirty="0">
                          <a:solidFill>
                            <a:srgbClr val="000000"/>
                          </a:solidFill>
                          <a:latin typeface="Helvetica Bold"/>
                          <a:ea typeface="Helvetica Bold"/>
                          <a:cs typeface="Helvetica Bold"/>
                          <a:sym typeface="Helvetica Bold"/>
                        </a:rPr>
                        <a:t>Signature</a:t>
                      </a: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2"/>
                        </a:lnSpc>
                        <a:defRPr/>
                      </a:pPr>
                      <a:endParaRPr lang="en-US" sz="1100" dirty="0"/>
                    </a:p>
                  </a:txBody>
                  <a:tcPr marL="47625" marR="47625" marT="47625" marB="476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1873250" y="9232900"/>
            <a:ext cx="1447800" cy="533400"/>
          </a:xfrm>
          <a:custGeom>
            <a:avLst/>
            <a:gdLst/>
            <a:ahLst/>
            <a:cxnLst/>
            <a:rect l="l" t="t" r="r" b="b"/>
            <a:pathLst>
              <a:path w="1475449" h="631010">
                <a:moveTo>
                  <a:pt x="0" y="0"/>
                </a:moveTo>
                <a:lnTo>
                  <a:pt x="1475449" y="0"/>
                </a:lnTo>
                <a:lnTo>
                  <a:pt x="1475449" y="631010"/>
                </a:lnTo>
                <a:lnTo>
                  <a:pt x="0" y="63101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58850" y="10071100"/>
            <a:ext cx="564044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PLEASE EMAIL THE APPROVED COPY TO JAMESB@NIGHTINGALEDATA.COM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0250" y="5041900"/>
            <a:ext cx="6096000" cy="271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60"/>
              </a:lnSpc>
            </a:pPr>
            <a:r>
              <a:rPr lang="en-US" sz="10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Terms and Conditions:</a:t>
            </a:r>
          </a:p>
          <a:p>
            <a:pPr marL="215899" lvl="1" indent="-107950" algn="just">
              <a:lnSpc>
                <a:spcPts val="1509"/>
              </a:lnSpc>
              <a:buFont typeface="Arial"/>
              <a:buChar char="•"/>
            </a:pPr>
            <a:r>
              <a:rPr lang="en-US" sz="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fields:</a:t>
            </a:r>
            <a:r>
              <a:rPr lang="en-US" sz="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Contact name, Company name, Job Title, Company Mailing address with Zip Code, Phone Number, Website URL, SIC Code, Revenue/Employee Size and contact person verified business email address.</a:t>
            </a:r>
          </a:p>
          <a:p>
            <a:pPr marL="215899" lvl="1" indent="-107950" algn="just">
              <a:lnSpc>
                <a:spcPts val="1509"/>
              </a:lnSpc>
              <a:buFont typeface="Arial"/>
              <a:buChar char="•"/>
            </a:pPr>
            <a:r>
              <a:rPr lang="en-US" sz="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Bounce Back Policy:</a:t>
            </a:r>
            <a:r>
              <a:rPr lang="en-US" sz="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our manual email verification process we guarantee 85% email deliverability with all our data projects. If the client experiences hard bounces exceeding 15%, we will provide replacements/credits equivalent to the hard bounces.</a:t>
            </a:r>
          </a:p>
          <a:p>
            <a:pPr marL="215899" lvl="1" indent="-107950" algn="just">
              <a:lnSpc>
                <a:spcPts val="1509"/>
              </a:lnSpc>
              <a:buFont typeface="Arial"/>
              <a:buChar char="•"/>
            </a:pPr>
            <a:r>
              <a:rPr lang="en-US" sz="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Delivery Format:</a:t>
            </a:r>
            <a:r>
              <a:rPr lang="en-US" sz="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can be delivered in Excel format, but client can request for delivery in any format convenient and compatible as per their CRM.</a:t>
            </a:r>
          </a:p>
          <a:p>
            <a:pPr marL="215899" lvl="1" indent="-107950" algn="just">
              <a:lnSpc>
                <a:spcPts val="1509"/>
              </a:lnSpc>
              <a:buFont typeface="Arial"/>
              <a:buChar char="•"/>
            </a:pPr>
            <a:r>
              <a:rPr lang="en-US" sz="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usage:</a:t>
            </a:r>
            <a:r>
              <a:rPr lang="en-US" sz="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Tele-marketing, Direct marketing and Email marketing initiatives; One-time purchase. </a:t>
            </a:r>
          </a:p>
          <a:p>
            <a:pPr marL="215899" lvl="1" indent="-107950" algn="just">
              <a:lnSpc>
                <a:spcPts val="1509"/>
              </a:lnSpc>
              <a:buFont typeface="Arial"/>
              <a:buChar char="•"/>
            </a:pPr>
            <a:r>
              <a:rPr lang="en-US" sz="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List delivery timeline:</a:t>
            </a:r>
            <a:r>
              <a:rPr lang="en-US" sz="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List compilation and verification takes 3-4 business days and will be delivered on realization of complete payment.</a:t>
            </a:r>
          </a:p>
          <a:p>
            <a:pPr marL="215899" lvl="1" indent="-107950" algn="just">
              <a:lnSpc>
                <a:spcPts val="1509"/>
              </a:lnSpc>
              <a:buFont typeface="Arial"/>
              <a:buChar char="•"/>
            </a:pPr>
            <a:r>
              <a:rPr lang="en-US" sz="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 of Payment:</a:t>
            </a:r>
            <a:r>
              <a:rPr lang="en-US" sz="9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Wire/Credit Card.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307</Words>
  <Application>Microsoft Office PowerPoint</Application>
  <PresentationFormat>Custom</PresentationFormat>
  <Paragraphs>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(MS) Bold</vt:lpstr>
      <vt:lpstr>Calibri (MS)</vt:lpstr>
      <vt:lpstr>Helvetica Bold</vt:lpstr>
      <vt:lpstr>Helvetica</vt:lpstr>
      <vt:lpstr>Canva Sans Bold</vt:lpstr>
      <vt:lpstr>Canva Sans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Assesses Cover Page</dc:title>
  <cp:lastModifiedBy>Koushik Pillai</cp:lastModifiedBy>
  <cp:revision>7</cp:revision>
  <dcterms:created xsi:type="dcterms:W3CDTF">2006-08-16T00:00:00Z</dcterms:created>
  <dcterms:modified xsi:type="dcterms:W3CDTF">2026-07-24T17:47:49Z</dcterms:modified>
  <dc:identifier>DAGzrIUaLaE</dc:identifier>
</cp:coreProperties>
</file>